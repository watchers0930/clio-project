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5" r:id="rId2"/>
    <p:sldId id="286" r:id="rId3"/>
  </p:sldIdLst>
  <p:sldSz cx="9144000" cy="6858000" type="screen4x3"/>
  <p:notesSz cx="6889750" cy="100187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653" autoAdjust="0"/>
  </p:normalViewPr>
  <p:slideViewPr>
    <p:cSldViewPr>
      <p:cViewPr>
        <p:scale>
          <a:sx n="100" d="100"/>
          <a:sy n="100" d="100"/>
        </p:scale>
        <p:origin x="-1992" y="-432"/>
      </p:cViewPr>
      <p:guideLst>
        <p:guide orient="horz" pos="3067"/>
        <p:guide orient="horz" pos="2976"/>
        <p:guide orient="horz" pos="3702"/>
        <p:guide pos="2880"/>
        <p:guide pos="657"/>
        <p:guide pos="5465"/>
        <p:guide pos="3742"/>
        <p:guide pos="4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86309" cy="501416"/>
          </a:xfrm>
          <a:prstGeom prst="rect">
            <a:avLst/>
          </a:prstGeom>
        </p:spPr>
        <p:txBody>
          <a:bodyPr vert="horz" lIns="92431" tIns="46215" rIns="92431" bIns="46215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833" y="1"/>
            <a:ext cx="2986309" cy="501416"/>
          </a:xfrm>
          <a:prstGeom prst="rect">
            <a:avLst/>
          </a:prstGeom>
        </p:spPr>
        <p:txBody>
          <a:bodyPr vert="horz" lIns="92431" tIns="46215" rIns="92431" bIns="46215" rtlCol="0"/>
          <a:lstStyle>
            <a:lvl1pPr algn="r">
              <a:defRPr sz="1200"/>
            </a:lvl1pPr>
          </a:lstStyle>
          <a:p>
            <a:fld id="{9AD0D204-553E-4E5E-96B7-0E0F91D71272}" type="datetimeFigureOut">
              <a:rPr lang="ko-KR" altLang="en-US" smtClean="0"/>
              <a:pPr/>
              <a:t>2024-11-16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41388" y="750888"/>
            <a:ext cx="5006975" cy="3756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31" tIns="46215" rIns="92431" bIns="46215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654" y="4759451"/>
            <a:ext cx="5512444" cy="4507941"/>
          </a:xfrm>
          <a:prstGeom prst="rect">
            <a:avLst/>
          </a:prstGeom>
        </p:spPr>
        <p:txBody>
          <a:bodyPr vert="horz" lIns="92431" tIns="46215" rIns="92431" bIns="46215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5696"/>
            <a:ext cx="2986309" cy="501416"/>
          </a:xfrm>
          <a:prstGeom prst="rect">
            <a:avLst/>
          </a:prstGeom>
        </p:spPr>
        <p:txBody>
          <a:bodyPr vert="horz" lIns="92431" tIns="46215" rIns="92431" bIns="46215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833" y="9515696"/>
            <a:ext cx="2986309" cy="501416"/>
          </a:xfrm>
          <a:prstGeom prst="rect">
            <a:avLst/>
          </a:prstGeom>
        </p:spPr>
        <p:txBody>
          <a:bodyPr vert="horz" lIns="92431" tIns="46215" rIns="92431" bIns="46215" rtlCol="0" anchor="b"/>
          <a:lstStyle>
            <a:lvl1pPr algn="r">
              <a:defRPr sz="1200"/>
            </a:lvl1pPr>
          </a:lstStyle>
          <a:p>
            <a:fld id="{9CCAF86B-D95B-4E36-936D-14DE2474CF2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2323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273301"/>
            <a:ext cx="7772400" cy="584195"/>
          </a:xfrm>
        </p:spPr>
        <p:txBody>
          <a:bodyPr>
            <a:noAutofit/>
          </a:bodyPr>
          <a:lstStyle>
            <a:lvl1pPr>
              <a:defRPr sz="35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143504" y="3100382"/>
            <a:ext cx="3286148" cy="471494"/>
          </a:xfrm>
        </p:spPr>
        <p:txBody>
          <a:bodyPr>
            <a:normAutofit/>
          </a:bodyPr>
          <a:lstStyle>
            <a:lvl1pPr marL="0" indent="0" algn="r">
              <a:buNone/>
              <a:defRPr sz="25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날짜 입력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 userDrawn="1"/>
        </p:nvCxnSpPr>
        <p:spPr>
          <a:xfrm>
            <a:off x="357158" y="3000372"/>
            <a:ext cx="8429684" cy="1588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1789" y="6143644"/>
            <a:ext cx="1511535" cy="504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6643702" y="3714752"/>
            <a:ext cx="179568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aseline="0" dirty="0" smtClean="0">
                <a:latin typeface="HY견고딕" pitchFamily="18" charset="-127"/>
                <a:ea typeface="HY견고딕" pitchFamily="18" charset="-127"/>
              </a:rPr>
              <a:t>               </a:t>
            </a:r>
            <a:endParaRPr lang="ko-KR" altLang="en-US" sz="2500" dirty="0"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2910" y="142852"/>
            <a:ext cx="7829576" cy="368280"/>
          </a:xfrm>
        </p:spPr>
        <p:txBody>
          <a:bodyPr>
            <a:normAutofit/>
          </a:bodyPr>
          <a:lstStyle>
            <a:lvl1pPr algn="l">
              <a:defRPr sz="25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 userDrawn="1"/>
        </p:nvCxnSpPr>
        <p:spPr>
          <a:xfrm>
            <a:off x="500034" y="6286520"/>
            <a:ext cx="8215370" cy="1588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52"/>
          <p:cNvSpPr txBox="1">
            <a:spLocks noChangeArrowheads="1"/>
          </p:cNvSpPr>
          <p:nvPr userDrawn="1"/>
        </p:nvSpPr>
        <p:spPr bwMode="auto">
          <a:xfrm>
            <a:off x="8572528" y="6286520"/>
            <a:ext cx="236538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36000" bIns="36000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fld id="{C5B49D31-9737-40AC-A433-FB34C8ECC24D}" type="slidenum">
              <a:rPr kumimoji="1" lang="en-US" altLang="ko-KR" sz="1300" b="1">
                <a:solidFill>
                  <a:schemeClr val="tx1"/>
                </a:solidFill>
                <a:latin typeface="Arial Narrow" pitchFamily="34" charset="0"/>
                <a:ea typeface="바탕체" pitchFamily="17" charset="-127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t>‹#›</a:t>
            </a:fld>
            <a:endParaRPr kumimoji="1" lang="en-US" altLang="ko-KR" sz="1300" b="1" dirty="0">
              <a:solidFill>
                <a:schemeClr val="tx1"/>
              </a:solidFill>
              <a:latin typeface="Arial Narrow" pitchFamily="34" charset="0"/>
              <a:ea typeface="바탕체" pitchFamily="17" charset="-127"/>
            </a:endParaRPr>
          </a:p>
        </p:txBody>
      </p:sp>
      <p:cxnSp>
        <p:nvCxnSpPr>
          <p:cNvPr id="9" name="직선 화살표 연결선 8"/>
          <p:cNvCxnSpPr/>
          <p:nvPr userDrawn="1"/>
        </p:nvCxnSpPr>
        <p:spPr>
          <a:xfrm>
            <a:off x="516510" y="555004"/>
            <a:ext cx="8215370" cy="158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1000124" y="1214438"/>
            <a:ext cx="1857363" cy="428612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86127-27AD-4327-B038-3D74323B08E0}" type="datetimeFigureOut">
              <a:rPr lang="ko-KR" altLang="en-US" smtClean="0"/>
              <a:pPr/>
              <a:t>2024-11-16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3EED3-A7B5-4231-915C-A1D1536ED1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340372" y="4288798"/>
            <a:ext cx="6093373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2. </a:t>
            </a:r>
            <a:r>
              <a:rPr lang="ko-KR" altLang="en-US" sz="1600" b="1" dirty="0" smtClean="0">
                <a:latin typeface="+mn-ea"/>
              </a:rPr>
              <a:t>원인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40372" y="4539356"/>
            <a:ext cx="8620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ko-KR" sz="1000" dirty="0" smtClean="0">
                <a:latin typeface="+mn-ea"/>
              </a:rPr>
              <a:t> 1. N2 Line </a:t>
            </a:r>
            <a:r>
              <a:rPr lang="ko-KR" altLang="en-US" sz="1000" dirty="0" smtClean="0">
                <a:latin typeface="+mn-ea"/>
              </a:rPr>
              <a:t>기존 작업자 업무부하로 지원자 작업으로 </a:t>
            </a:r>
            <a:r>
              <a:rPr lang="en-US" altLang="ko-KR" sz="1000" dirty="0" smtClean="0">
                <a:latin typeface="+mn-ea"/>
              </a:rPr>
              <a:t>Error </a:t>
            </a:r>
            <a:r>
              <a:rPr lang="ko-KR" altLang="en-US" sz="1000" dirty="0" smtClean="0">
                <a:latin typeface="+mn-ea"/>
              </a:rPr>
              <a:t>발생 </a:t>
            </a:r>
            <a:endParaRPr lang="en-US" altLang="ko-KR" sz="1000" dirty="0" smtClean="0">
              <a:latin typeface="+mn-ea"/>
            </a:endParaRPr>
          </a:p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1) N2</a:t>
            </a:r>
            <a:r>
              <a:rPr lang="ko-KR" altLang="en-US" sz="1000" dirty="0" smtClean="0">
                <a:latin typeface="+mn-ea"/>
              </a:rPr>
              <a:t>전담 작업자 업무부하로 자재담당자 </a:t>
            </a:r>
            <a:r>
              <a:rPr lang="en-US" altLang="ko-KR" sz="1000" dirty="0" smtClean="0">
                <a:latin typeface="+mn-ea"/>
              </a:rPr>
              <a:t>(</a:t>
            </a:r>
            <a:r>
              <a:rPr lang="ko-KR" altLang="en-US" sz="1000" dirty="0" smtClean="0">
                <a:latin typeface="+mn-ea"/>
              </a:rPr>
              <a:t>자재업무 無</a:t>
            </a:r>
            <a:r>
              <a:rPr lang="en-US" altLang="ko-KR" sz="1000" dirty="0" smtClean="0">
                <a:latin typeface="+mn-ea"/>
              </a:rPr>
              <a:t>) </a:t>
            </a:r>
            <a:r>
              <a:rPr lang="ko-KR" altLang="en-US" sz="1000" dirty="0" smtClean="0">
                <a:latin typeface="+mn-ea"/>
              </a:rPr>
              <a:t>조립으로</a:t>
            </a:r>
            <a:r>
              <a:rPr lang="en-US" altLang="ko-KR" sz="1000" dirty="0" smtClean="0">
                <a:latin typeface="+mn-ea"/>
              </a:rPr>
              <a:t> </a:t>
            </a:r>
            <a:r>
              <a:rPr lang="ko-KR" altLang="en-US" sz="1000" dirty="0" err="1">
                <a:latin typeface="+mn-ea"/>
              </a:rPr>
              <a:t>역</a:t>
            </a:r>
            <a:r>
              <a:rPr lang="ko-KR" altLang="en-US" sz="1000" dirty="0" err="1" smtClean="0">
                <a:latin typeface="+mn-ea"/>
              </a:rPr>
              <a:t>조립</a:t>
            </a:r>
            <a:r>
              <a:rPr lang="ko-KR" altLang="en-US" sz="1000" dirty="0" smtClean="0">
                <a:latin typeface="+mn-ea"/>
              </a:rPr>
              <a:t> 발생</a:t>
            </a:r>
            <a:endParaRPr lang="en-US" altLang="ko-KR" sz="1000" dirty="0" smtClean="0">
              <a:latin typeface="+mn-ea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988246"/>
              </p:ext>
            </p:extLst>
          </p:nvPr>
        </p:nvGraphicFramePr>
        <p:xfrm>
          <a:off x="273903" y="5466085"/>
          <a:ext cx="6070599" cy="419100"/>
        </p:xfrm>
        <a:graphic>
          <a:graphicData uri="http://schemas.openxmlformats.org/drawingml/2006/table">
            <a:tbl>
              <a:tblPr/>
              <a:tblGrid>
                <a:gridCol w="685083"/>
                <a:gridCol w="4748008"/>
                <a:gridCol w="637508"/>
              </a:tblGrid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484848"/>
                          </a:solidFill>
                          <a:effectLst/>
                          <a:latin typeface="Arial"/>
                        </a:rPr>
                        <a:t>발생일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484848"/>
                          </a:solidFill>
                          <a:effectLst/>
                          <a:latin typeface="Arial"/>
                        </a:rPr>
                        <a:t>상세불량내용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484848"/>
                          </a:solidFill>
                          <a:effectLst/>
                          <a:latin typeface="돋움"/>
                        </a:rPr>
                        <a:t>발생</a:t>
                      </a:r>
                      <a:r>
                        <a:rPr lang="ko-KR" altLang="en-US" sz="900" b="1" i="0" u="none" strike="noStrike">
                          <a:solidFill>
                            <a:srgbClr val="484848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484848"/>
                          </a:solidFill>
                          <a:effectLst/>
                          <a:latin typeface="돋움"/>
                        </a:rPr>
                        <a:t>업체</a:t>
                      </a:r>
                      <a:endParaRPr lang="ko-KR" altLang="en-US" sz="900" b="1" i="0" u="none" strike="noStrike">
                        <a:solidFill>
                          <a:srgbClr val="484848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2024-03-19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dirty="0" smtClean="0">
                          <a:latin typeface="+mn-ea"/>
                        </a:rPr>
                        <a:t>: N2</a:t>
                      </a:r>
                      <a:r>
                        <a:rPr lang="ko-KR" altLang="en-US" sz="900" dirty="0" smtClean="0">
                          <a:latin typeface="+mn-ea"/>
                        </a:rPr>
                        <a:t>라인 전기 </a:t>
                      </a:r>
                      <a:r>
                        <a:rPr lang="en-US" altLang="ko-KR" sz="900" dirty="0" smtClean="0">
                          <a:latin typeface="+mn-ea"/>
                        </a:rPr>
                        <a:t>SOL </a:t>
                      </a:r>
                      <a:r>
                        <a:rPr lang="ko-KR" altLang="en-US" sz="900" dirty="0" smtClean="0">
                          <a:latin typeface="+mn-ea"/>
                        </a:rPr>
                        <a:t>역방향 조립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역방향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오조립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TMS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기구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63455" y="5106045"/>
            <a:ext cx="6093373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3. 24</a:t>
            </a:r>
            <a:r>
              <a:rPr lang="ko-KR" altLang="en-US" sz="1600" b="1" dirty="0" err="1" smtClean="0">
                <a:latin typeface="+mn-ea"/>
              </a:rPr>
              <a:t>년불량</a:t>
            </a:r>
            <a:r>
              <a:rPr lang="ko-KR" altLang="en-US" sz="1600" b="1" dirty="0" smtClean="0">
                <a:latin typeface="+mn-ea"/>
              </a:rPr>
              <a:t> 내역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7426" y="557292"/>
            <a:ext cx="6093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1. </a:t>
            </a:r>
            <a:r>
              <a:rPr lang="ko-KR" altLang="en-US" sz="1600" b="1" dirty="0" smtClean="0">
                <a:latin typeface="+mn-ea"/>
              </a:rPr>
              <a:t>불량내용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9187" y="853855"/>
            <a:ext cx="86201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1. </a:t>
            </a:r>
            <a:r>
              <a:rPr lang="ko-KR" altLang="en-US" sz="1000" dirty="0">
                <a:latin typeface="+mn-ea"/>
              </a:rPr>
              <a:t>유형</a:t>
            </a:r>
            <a:r>
              <a:rPr lang="en-US" altLang="ko-KR" sz="1000" dirty="0">
                <a:latin typeface="+mn-ea"/>
              </a:rPr>
              <a:t>: </a:t>
            </a:r>
            <a:r>
              <a:rPr lang="en-US" altLang="ko-KR" sz="1000" dirty="0" err="1">
                <a:latin typeface="+mn-ea"/>
              </a:rPr>
              <a:t>TurnOn</a:t>
            </a:r>
            <a:r>
              <a:rPr lang="ko-KR" altLang="en-US" sz="1000" dirty="0">
                <a:latin typeface="+mn-ea"/>
              </a:rPr>
              <a:t>불량</a:t>
            </a:r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모델</a:t>
            </a:r>
            <a:r>
              <a:rPr lang="en-US" altLang="ko-KR" sz="1000" dirty="0">
                <a:latin typeface="+mn-ea"/>
              </a:rPr>
              <a:t>: DRAGON AB DUAL</a:t>
            </a:r>
          </a:p>
          <a:p>
            <a:r>
              <a:rPr lang="en-US" altLang="ko-KR" sz="1000" dirty="0">
                <a:latin typeface="+mn-ea"/>
              </a:rPr>
              <a:t>3. S/N: DBW-3274~3278 (5</a:t>
            </a:r>
            <a:r>
              <a:rPr lang="ko-KR" altLang="en-US" sz="1000" dirty="0">
                <a:latin typeface="+mn-ea"/>
              </a:rPr>
              <a:t>대</a:t>
            </a:r>
            <a:r>
              <a:rPr lang="en-US" altLang="ko-KR" sz="1000" dirty="0">
                <a:latin typeface="+mn-ea"/>
              </a:rPr>
              <a:t>)</a:t>
            </a:r>
          </a:p>
          <a:p>
            <a:r>
              <a:rPr lang="en-US" altLang="ko-KR" sz="1000" dirty="0">
                <a:latin typeface="+mn-ea"/>
              </a:rPr>
              <a:t>4. </a:t>
            </a:r>
            <a:r>
              <a:rPr lang="ko-KR" altLang="en-US" sz="1000" dirty="0" err="1">
                <a:latin typeface="+mn-ea"/>
              </a:rPr>
              <a:t>고객사</a:t>
            </a:r>
            <a:r>
              <a:rPr lang="en-US" altLang="ko-KR" sz="1000" dirty="0">
                <a:latin typeface="+mn-ea"/>
              </a:rPr>
              <a:t>: PXX HEFEI ASH</a:t>
            </a:r>
          </a:p>
          <a:p>
            <a:r>
              <a:rPr lang="en-US" altLang="ko-KR" sz="1000" dirty="0">
                <a:latin typeface="+mn-ea"/>
              </a:rPr>
              <a:t>5. </a:t>
            </a:r>
            <a:r>
              <a:rPr lang="ko-KR" altLang="en-US" sz="1000" dirty="0">
                <a:latin typeface="+mn-ea"/>
              </a:rPr>
              <a:t>출하일</a:t>
            </a:r>
            <a:r>
              <a:rPr lang="en-US" altLang="ko-KR" sz="1000" dirty="0">
                <a:latin typeface="+mn-ea"/>
              </a:rPr>
              <a:t>: 3</a:t>
            </a:r>
            <a:r>
              <a:rPr lang="ko-KR" altLang="en-US" sz="1000" dirty="0">
                <a:latin typeface="+mn-ea"/>
              </a:rPr>
              <a:t>월</a:t>
            </a:r>
            <a:r>
              <a:rPr lang="en-US" altLang="ko-KR" sz="1000" dirty="0">
                <a:latin typeface="+mn-ea"/>
              </a:rPr>
              <a:t>19</a:t>
            </a:r>
            <a:r>
              <a:rPr lang="ko-KR" altLang="en-US" sz="1000" dirty="0">
                <a:latin typeface="+mn-ea"/>
              </a:rPr>
              <a:t>일</a:t>
            </a:r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6. </a:t>
            </a:r>
            <a:r>
              <a:rPr lang="ko-KR" altLang="en-US" sz="1000" dirty="0">
                <a:latin typeface="+mn-ea"/>
              </a:rPr>
              <a:t>작업업체</a:t>
            </a:r>
            <a:r>
              <a:rPr lang="en-US" altLang="ko-KR" sz="1000" dirty="0">
                <a:latin typeface="+mn-ea"/>
              </a:rPr>
              <a:t>: TMS</a:t>
            </a:r>
            <a:r>
              <a:rPr lang="ko-KR" altLang="en-US" sz="1000" dirty="0">
                <a:latin typeface="+mn-ea"/>
              </a:rPr>
              <a:t>기구 </a:t>
            </a:r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7. Turn On </a:t>
            </a:r>
            <a:r>
              <a:rPr lang="ko-KR" altLang="en-US" sz="1000" dirty="0">
                <a:latin typeface="+mn-ea"/>
              </a:rPr>
              <a:t>불량 발생일</a:t>
            </a:r>
            <a:r>
              <a:rPr lang="en-US" altLang="ko-KR" sz="1000" dirty="0">
                <a:latin typeface="+mn-ea"/>
              </a:rPr>
              <a:t>: 24</a:t>
            </a:r>
            <a:r>
              <a:rPr lang="ko-KR" altLang="en-US" sz="1000" dirty="0">
                <a:latin typeface="+mn-ea"/>
              </a:rPr>
              <a:t>년</a:t>
            </a:r>
            <a:r>
              <a:rPr lang="en-US" altLang="ko-KR" sz="1000" dirty="0">
                <a:latin typeface="+mn-ea"/>
              </a:rPr>
              <a:t>6</a:t>
            </a:r>
            <a:r>
              <a:rPr lang="ko-KR" altLang="en-US" sz="1000" dirty="0">
                <a:latin typeface="+mn-ea"/>
              </a:rPr>
              <a:t>월</a:t>
            </a:r>
            <a:r>
              <a:rPr lang="en-US" altLang="ko-KR" sz="1000" dirty="0">
                <a:latin typeface="+mn-ea"/>
              </a:rPr>
              <a:t>20</a:t>
            </a:r>
            <a:r>
              <a:rPr lang="ko-KR" altLang="en-US" sz="1000" dirty="0">
                <a:latin typeface="+mn-ea"/>
              </a:rPr>
              <a:t>일</a:t>
            </a:r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8. </a:t>
            </a:r>
            <a:r>
              <a:rPr lang="ko-KR" altLang="en-US" sz="1000" dirty="0">
                <a:latin typeface="+mn-ea"/>
              </a:rPr>
              <a:t>현상</a:t>
            </a:r>
            <a:r>
              <a:rPr lang="en-US" altLang="ko-KR" sz="1000" dirty="0">
                <a:latin typeface="+mn-ea"/>
              </a:rPr>
              <a:t>: N2</a:t>
            </a:r>
            <a:r>
              <a:rPr lang="ko-KR" altLang="en-US" sz="1000" dirty="0">
                <a:latin typeface="+mn-ea"/>
              </a:rPr>
              <a:t>라인 전기 </a:t>
            </a:r>
            <a:r>
              <a:rPr lang="en-US" altLang="ko-KR" sz="1000" dirty="0">
                <a:latin typeface="+mn-ea"/>
              </a:rPr>
              <a:t>SOL </a:t>
            </a:r>
            <a:r>
              <a:rPr lang="ko-KR" altLang="en-US" sz="1000" dirty="0">
                <a:latin typeface="+mn-ea"/>
              </a:rPr>
              <a:t>역방향 조립으로 </a:t>
            </a:r>
            <a:r>
              <a:rPr lang="en-US" altLang="ko-KR" sz="1000" dirty="0">
                <a:latin typeface="+mn-ea"/>
              </a:rPr>
              <a:t>Left / Right Chamber Ignition </a:t>
            </a:r>
            <a:r>
              <a:rPr lang="ko-KR" altLang="en-US" sz="1000" dirty="0">
                <a:latin typeface="+mn-ea"/>
              </a:rPr>
              <a:t>후 </a:t>
            </a:r>
            <a:r>
              <a:rPr lang="en-US" altLang="ko-KR" sz="1000" dirty="0">
                <a:latin typeface="+mn-ea"/>
              </a:rPr>
              <a:t>Flame Off (Burning </a:t>
            </a:r>
            <a:r>
              <a:rPr lang="ko-KR" altLang="en-US" sz="1000" dirty="0">
                <a:latin typeface="+mn-ea"/>
              </a:rPr>
              <a:t>불가</a:t>
            </a:r>
            <a:r>
              <a:rPr lang="en-US" altLang="ko-KR" sz="1000" dirty="0">
                <a:latin typeface="+mn-ea"/>
              </a:rPr>
              <a:t>)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61" y="2319177"/>
            <a:ext cx="2675210" cy="1826746"/>
          </a:xfrm>
          <a:prstGeom prst="rect">
            <a:avLst/>
          </a:prstGeom>
        </p:spPr>
      </p:pic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467544" y="72008"/>
            <a:ext cx="7091681" cy="47667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PXX DRAGON N2 Line Flow</a:t>
            </a:r>
            <a:r>
              <a:rPr lang="ko-KR" altLang="en-US" sz="2000" dirty="0" err="1"/>
              <a:t>역조립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대책보고서</a:t>
            </a:r>
            <a:endParaRPr lang="ko-KR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/>
          <p:cNvSpPr txBox="1"/>
          <p:nvPr/>
        </p:nvSpPr>
        <p:spPr>
          <a:xfrm>
            <a:off x="334359" y="559346"/>
            <a:ext cx="6093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3. </a:t>
            </a:r>
            <a:r>
              <a:rPr lang="ko-KR" altLang="en-US" sz="1600" b="1" dirty="0" err="1" smtClean="0">
                <a:latin typeface="+mn-ea"/>
              </a:rPr>
              <a:t>대책안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40372" y="816858"/>
            <a:ext cx="8620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1. </a:t>
            </a:r>
            <a:r>
              <a:rPr lang="ko-KR" altLang="en-US" sz="1000" dirty="0" smtClean="0">
                <a:latin typeface="+mn-ea"/>
              </a:rPr>
              <a:t>관리자 인원 보고 요구</a:t>
            </a:r>
            <a:endParaRPr lang="en-US" altLang="ko-KR" sz="1000" dirty="0" smtClean="0">
              <a:latin typeface="+mn-ea"/>
            </a:endParaRPr>
          </a:p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1)</a:t>
            </a:r>
            <a:r>
              <a:rPr lang="ko-KR" altLang="en-US" sz="1000" dirty="0" smtClean="0">
                <a:latin typeface="+mn-ea"/>
              </a:rPr>
              <a:t>부재 </a:t>
            </a:r>
            <a:r>
              <a:rPr lang="en-US" altLang="ko-KR" sz="1000" dirty="0" smtClean="0">
                <a:latin typeface="+mn-ea"/>
              </a:rPr>
              <a:t>(</a:t>
            </a:r>
            <a:r>
              <a:rPr lang="ko-KR" altLang="en-US" sz="1000" dirty="0" smtClean="0">
                <a:latin typeface="+mn-ea"/>
              </a:rPr>
              <a:t>출장</a:t>
            </a:r>
            <a:r>
              <a:rPr lang="en-US" altLang="ko-KR" sz="1000" dirty="0" smtClean="0">
                <a:latin typeface="+mn-ea"/>
              </a:rPr>
              <a:t>,</a:t>
            </a:r>
            <a:r>
              <a:rPr lang="ko-KR" altLang="en-US" sz="1000" dirty="0" smtClean="0">
                <a:latin typeface="+mn-ea"/>
              </a:rPr>
              <a:t>기타 등등</a:t>
            </a:r>
            <a:r>
              <a:rPr lang="en-US" altLang="ko-KR" sz="1000" dirty="0" smtClean="0">
                <a:latin typeface="+mn-ea"/>
              </a:rPr>
              <a:t>)</a:t>
            </a:r>
            <a:r>
              <a:rPr lang="ko-KR" altLang="en-US" sz="1000" dirty="0" smtClean="0">
                <a:latin typeface="+mn-ea"/>
              </a:rPr>
              <a:t>발생 </a:t>
            </a:r>
            <a:r>
              <a:rPr lang="ko-KR" altLang="en-US" sz="1000" dirty="0">
                <a:latin typeface="+mn-ea"/>
              </a:rPr>
              <a:t>시 대리인 </a:t>
            </a:r>
            <a:r>
              <a:rPr lang="ko-KR" altLang="en-US" sz="1000" dirty="0" smtClean="0">
                <a:latin typeface="+mn-ea"/>
              </a:rPr>
              <a:t>지정하여 </a:t>
            </a:r>
            <a:r>
              <a:rPr lang="ko-KR" altLang="en-US" sz="1000" dirty="0" err="1" smtClean="0">
                <a:latin typeface="+mn-ea"/>
              </a:rPr>
              <a:t>제조팀에</a:t>
            </a:r>
            <a:r>
              <a:rPr lang="ko-KR" altLang="en-US" sz="1000" dirty="0" smtClean="0">
                <a:latin typeface="+mn-ea"/>
              </a:rPr>
              <a:t> 보고지시 </a:t>
            </a:r>
            <a:r>
              <a:rPr lang="en-US" altLang="ko-KR" sz="1000" b="1" dirty="0" smtClean="0">
                <a:solidFill>
                  <a:srgbClr val="FF0000"/>
                </a:solidFill>
                <a:latin typeface="+mn-ea"/>
              </a:rPr>
              <a:t>(6/24)</a:t>
            </a:r>
            <a:r>
              <a:rPr lang="en-US" altLang="ko-KR" sz="1000" dirty="0">
                <a:latin typeface="+mn-ea"/>
              </a:rPr>
              <a:t/>
            </a:r>
            <a:br>
              <a:rPr lang="en-US" altLang="ko-KR" sz="1000" dirty="0">
                <a:latin typeface="+mn-ea"/>
              </a:rPr>
            </a:br>
            <a:r>
              <a:rPr lang="en-US" altLang="ko-KR" sz="1000" dirty="0" smtClean="0">
                <a:latin typeface="+mn-ea"/>
              </a:rPr>
              <a:t>  2. </a:t>
            </a:r>
            <a:r>
              <a:rPr lang="en-US" altLang="ko-KR" sz="1000" dirty="0">
                <a:latin typeface="+mn-ea"/>
              </a:rPr>
              <a:t>IN , OUT</a:t>
            </a:r>
            <a:r>
              <a:rPr lang="ko-KR" altLang="en-US" sz="1000" dirty="0">
                <a:latin typeface="+mn-ea"/>
              </a:rPr>
              <a:t>단 스티커 부착으로 </a:t>
            </a:r>
            <a:r>
              <a:rPr lang="en-US" altLang="ko-KR" sz="1000" dirty="0">
                <a:latin typeface="+mn-ea"/>
              </a:rPr>
              <a:t>IN , OUT</a:t>
            </a:r>
            <a:r>
              <a:rPr lang="ko-KR" altLang="en-US" sz="1000" dirty="0">
                <a:latin typeface="+mn-ea"/>
              </a:rPr>
              <a:t>단 </a:t>
            </a:r>
            <a:r>
              <a:rPr lang="ko-KR" altLang="en-US" sz="1000" dirty="0" err="1">
                <a:latin typeface="+mn-ea"/>
              </a:rPr>
              <a:t>눈관리</a:t>
            </a:r>
            <a:r>
              <a:rPr lang="ko-KR" altLang="en-US" sz="1000" dirty="0">
                <a:latin typeface="+mn-ea"/>
              </a:rPr>
              <a:t> 식별보강   </a:t>
            </a:r>
            <a:endParaRPr lang="en-US" altLang="ko-KR" sz="1000" dirty="0">
              <a:latin typeface="+mn-ea"/>
            </a:endParaRPr>
          </a:p>
          <a:p>
            <a:pPr fontAlgn="ctr"/>
            <a:r>
              <a:rPr lang="en-US" altLang="ko-KR" sz="1000" dirty="0">
                <a:latin typeface="+mn-ea"/>
              </a:rPr>
              <a:t>   1)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IN</a:t>
            </a:r>
            <a:r>
              <a:rPr lang="ko-KR" altLang="en-US" sz="1000" dirty="0">
                <a:latin typeface="+mn-ea"/>
              </a:rPr>
              <a:t>단에 하늘색 스티커 </a:t>
            </a:r>
            <a:r>
              <a:rPr lang="en-US" altLang="ko-KR" sz="1000" dirty="0">
                <a:latin typeface="+mn-ea"/>
              </a:rPr>
              <a:t>, OUT</a:t>
            </a:r>
            <a:r>
              <a:rPr lang="ko-KR" altLang="en-US" sz="1000" dirty="0">
                <a:latin typeface="+mn-ea"/>
              </a:rPr>
              <a:t>단에 적색 스티커 제작하여 부착하여 식별 </a:t>
            </a:r>
            <a:r>
              <a:rPr lang="ko-KR" altLang="en-US" sz="1000" dirty="0" err="1">
                <a:latin typeface="+mn-ea"/>
              </a:rPr>
              <a:t>눈관리</a:t>
            </a:r>
            <a:r>
              <a:rPr lang="ko-KR" altLang="en-US" sz="1000" dirty="0">
                <a:latin typeface="+mn-ea"/>
              </a:rPr>
              <a:t> 보강으로 작업자 </a:t>
            </a:r>
            <a:r>
              <a:rPr lang="ko-KR" altLang="en-US" sz="1000" dirty="0" err="1">
                <a:latin typeface="+mn-ea"/>
              </a:rPr>
              <a:t>식별성</a:t>
            </a:r>
            <a:r>
              <a:rPr lang="ko-KR" altLang="en-US" sz="1000" dirty="0">
                <a:latin typeface="+mn-ea"/>
              </a:rPr>
              <a:t> </a:t>
            </a:r>
            <a:r>
              <a:rPr lang="ko-KR" altLang="en-US" sz="1000" dirty="0" smtClean="0">
                <a:latin typeface="+mn-ea"/>
              </a:rPr>
              <a:t>개선</a:t>
            </a:r>
            <a:endParaRPr lang="en-US" altLang="ko-KR" sz="1000" dirty="0" smtClean="0">
              <a:latin typeface="+mn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661839" y="1874829"/>
            <a:ext cx="1358390" cy="1291826"/>
            <a:chOff x="5167592" y="1332384"/>
            <a:chExt cx="1740035" cy="1654770"/>
          </a:xfrm>
        </p:grpSpPr>
        <p:pic>
          <p:nvPicPr>
            <p:cNvPr id="1032" name="Picture 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7592" y="1332384"/>
              <a:ext cx="1740035" cy="1654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직사각형 3"/>
            <p:cNvSpPr/>
            <p:nvPr/>
          </p:nvSpPr>
          <p:spPr>
            <a:xfrm>
              <a:off x="5751840" y="2518011"/>
              <a:ext cx="532715" cy="196242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</a:rPr>
                <a:t>OUT</a:t>
              </a:r>
              <a:endParaRPr lang="ko-KR" altLang="en-US" sz="800" b="1" dirty="0" smtClean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846612" y="1874830"/>
            <a:ext cx="1532170" cy="1310932"/>
            <a:chOff x="2417064" y="1332384"/>
            <a:chExt cx="1962639" cy="1679243"/>
          </a:xfrm>
        </p:grpSpPr>
        <p:pic>
          <p:nvPicPr>
            <p:cNvPr id="22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377" b="52346"/>
            <a:stretch/>
          </p:blipFill>
          <p:spPr bwMode="auto">
            <a:xfrm>
              <a:off x="2417064" y="1332384"/>
              <a:ext cx="1962639" cy="1679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직사각형 23"/>
            <p:cNvSpPr/>
            <p:nvPr/>
          </p:nvSpPr>
          <p:spPr>
            <a:xfrm>
              <a:off x="3060963" y="2368662"/>
              <a:ext cx="532716" cy="196242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IN</a:t>
              </a:r>
              <a:endParaRPr lang="ko-KR" altLang="en-US" sz="800" b="1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2158784" y="3185762"/>
            <a:ext cx="2413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    </a:t>
            </a:r>
            <a:r>
              <a:rPr lang="ko-KR" altLang="en-US" sz="1000" dirty="0" smtClean="0">
                <a:latin typeface="+mn-ea"/>
              </a:rPr>
              <a:t>▶ </a:t>
            </a:r>
            <a:r>
              <a:rPr lang="ko-KR" altLang="en-US" sz="1000" dirty="0" err="1" smtClean="0">
                <a:latin typeface="+mn-ea"/>
              </a:rPr>
              <a:t>락피팅</a:t>
            </a:r>
            <a:r>
              <a:rPr lang="ko-KR" altLang="en-US" sz="1000" dirty="0" smtClean="0">
                <a:latin typeface="+mn-ea"/>
              </a:rPr>
              <a:t> 타입 → 체결 하단에 부착</a:t>
            </a:r>
            <a:endParaRPr lang="en-US" altLang="ko-KR" sz="1000" dirty="0" smtClean="0"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4215" y="4590102"/>
            <a:ext cx="2815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>
                <a:latin typeface="+mn-ea"/>
              </a:rPr>
              <a:t>▶ </a:t>
            </a:r>
            <a:r>
              <a:rPr lang="ko-KR" altLang="en-US" sz="1000" dirty="0" err="1">
                <a:latin typeface="+mn-ea"/>
              </a:rPr>
              <a:t>원터치피팅</a:t>
            </a:r>
            <a:r>
              <a:rPr lang="ko-KR" altLang="en-US" sz="1000" dirty="0">
                <a:latin typeface="+mn-ea"/>
              </a:rPr>
              <a:t> </a:t>
            </a:r>
            <a:r>
              <a:rPr lang="ko-KR" altLang="en-US" sz="1000" dirty="0" smtClean="0">
                <a:latin typeface="+mn-ea"/>
              </a:rPr>
              <a:t>타입 → 바디중앙에 부착</a:t>
            </a:r>
            <a:endParaRPr lang="en-US" altLang="ko-KR" sz="1000" dirty="0" smtClean="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578603" y="3431983"/>
            <a:ext cx="969061" cy="1158119"/>
            <a:chOff x="614805" y="3259568"/>
            <a:chExt cx="1241322" cy="1483497"/>
          </a:xfrm>
        </p:grpSpPr>
        <p:pic>
          <p:nvPicPr>
            <p:cNvPr id="37" name="Picture 7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658"/>
            <a:stretch/>
          </p:blipFill>
          <p:spPr bwMode="auto">
            <a:xfrm>
              <a:off x="614805" y="3259568"/>
              <a:ext cx="1241322" cy="1483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직사각형 38"/>
            <p:cNvSpPr/>
            <p:nvPr/>
          </p:nvSpPr>
          <p:spPr>
            <a:xfrm>
              <a:off x="1053133" y="4099907"/>
              <a:ext cx="308065" cy="77008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 smtClean="0">
                <a:solidFill>
                  <a:schemeClr val="tx1"/>
                </a:solidFill>
              </a:endParaRPr>
            </a:p>
          </p:txBody>
        </p:sp>
      </p:grpSp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03" b="34723"/>
          <a:stretch/>
        </p:blipFill>
        <p:spPr bwMode="auto">
          <a:xfrm>
            <a:off x="1848875" y="3431983"/>
            <a:ext cx="1532170" cy="1158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51" t="9345" r="9588" b="25826"/>
          <a:stretch/>
        </p:blipFill>
        <p:spPr bwMode="auto">
          <a:xfrm>
            <a:off x="3650828" y="3425509"/>
            <a:ext cx="1358390" cy="1154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그룹 1"/>
          <p:cNvGrpSpPr/>
          <p:nvPr/>
        </p:nvGrpSpPr>
        <p:grpSpPr>
          <a:xfrm>
            <a:off x="522467" y="1874829"/>
            <a:ext cx="1025197" cy="1291826"/>
            <a:chOff x="522467" y="1332384"/>
            <a:chExt cx="1313230" cy="165477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404" b="48107"/>
            <a:stretch/>
          </p:blipFill>
          <p:spPr bwMode="auto">
            <a:xfrm>
              <a:off x="522467" y="1332384"/>
              <a:ext cx="1313230" cy="1654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직사각형 41"/>
            <p:cNvSpPr/>
            <p:nvPr/>
          </p:nvSpPr>
          <p:spPr>
            <a:xfrm>
              <a:off x="951567" y="1916832"/>
              <a:ext cx="308065" cy="77008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/>
          <p:cNvSpPr/>
          <p:nvPr/>
        </p:nvSpPr>
        <p:spPr>
          <a:xfrm>
            <a:off x="2407023" y="4259477"/>
            <a:ext cx="415874" cy="153200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</a:t>
            </a:r>
            <a:endParaRPr lang="ko-KR" altLang="en-US" sz="800" b="1" dirty="0" smtClean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117943" y="4012382"/>
            <a:ext cx="415874" cy="1532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</a:rPr>
              <a:t>OUT</a:t>
            </a:r>
            <a:endParaRPr lang="ko-KR" altLang="en-US" sz="800" b="1" dirty="0" smtClean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4782" y="4817927"/>
            <a:ext cx="86201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  2) Flow Sensor IN , OUT</a:t>
            </a:r>
            <a:r>
              <a:rPr lang="ko-KR" altLang="en-US" sz="1000" dirty="0" smtClean="0">
                <a:latin typeface="+mn-ea"/>
              </a:rPr>
              <a:t>단 </a:t>
            </a:r>
            <a:r>
              <a:rPr lang="en-US" altLang="ko-KR" sz="1000" dirty="0" smtClean="0">
                <a:latin typeface="+mn-ea"/>
              </a:rPr>
              <a:t>Flow </a:t>
            </a:r>
            <a:r>
              <a:rPr lang="ko-KR" altLang="en-US" sz="1000" dirty="0" smtClean="0">
                <a:latin typeface="+mn-ea"/>
              </a:rPr>
              <a:t>식별 스티커 시안</a:t>
            </a:r>
            <a:endParaRPr lang="en-US" altLang="ko-KR" sz="1000" dirty="0" smtClean="0">
              <a:latin typeface="+mn-ea"/>
            </a:endParaRPr>
          </a:p>
          <a:p>
            <a:pPr fontAlgn="ctr"/>
            <a:r>
              <a:rPr lang="en-US" altLang="ko-KR" sz="1000" dirty="0" smtClean="0">
                <a:latin typeface="+mn-ea"/>
              </a:rPr>
              <a:t>       </a:t>
            </a:r>
            <a:r>
              <a:rPr lang="ko-KR" altLang="en-US" sz="1000" dirty="0" smtClean="0">
                <a:latin typeface="+mn-ea"/>
              </a:rPr>
              <a:t>①시안 </a:t>
            </a:r>
            <a:r>
              <a:rPr lang="en-US" altLang="ko-KR" sz="1000" dirty="0" smtClean="0">
                <a:latin typeface="+mn-ea"/>
              </a:rPr>
              <a:t>2</a:t>
            </a:r>
            <a:r>
              <a:rPr lang="ko-KR" altLang="en-US" sz="1000" dirty="0" smtClean="0">
                <a:latin typeface="+mn-ea"/>
              </a:rPr>
              <a:t>종 중 선정 제작하여  현장적용 예정</a:t>
            </a:r>
            <a:endParaRPr lang="en-US" altLang="ko-KR" sz="1000" dirty="0" smtClean="0">
              <a:latin typeface="+mn-ea"/>
            </a:endParaRPr>
          </a:p>
          <a:p>
            <a:pPr fontAlgn="ctr"/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     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</a:rPr>
              <a:t>ㄴ</a:t>
            </a:r>
            <a:r>
              <a:rPr lang="ko-KR" altLang="en-US" sz="1000" u="sng" dirty="0" err="1" smtClean="0">
                <a:solidFill>
                  <a:srgbClr val="FF0000"/>
                </a:solidFill>
                <a:latin typeface="+mn-ea"/>
              </a:rPr>
              <a:t>적용일</a:t>
            </a:r>
            <a:r>
              <a:rPr lang="ko-KR" altLang="en-US" sz="1000" u="sng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000" u="sng" dirty="0" smtClean="0">
                <a:solidFill>
                  <a:srgbClr val="FF0000"/>
                </a:solidFill>
                <a:latin typeface="+mn-ea"/>
              </a:rPr>
              <a:t>7/8  </a:t>
            </a:r>
            <a:r>
              <a:rPr lang="ko-KR" altLang="en-US" sz="1000" u="sng" dirty="0" smtClean="0">
                <a:solidFill>
                  <a:srgbClr val="FF0000"/>
                </a:solidFill>
                <a:latin typeface="+mn-ea"/>
              </a:rPr>
              <a:t>현재 견적서 접수대기 중</a:t>
            </a:r>
            <a:r>
              <a:rPr lang="en-US" altLang="ko-KR" sz="1000" u="sng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000" u="sng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409816" y="5332337"/>
            <a:ext cx="3252023" cy="9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제목 1"/>
          <p:cNvSpPr>
            <a:spLocks noGrp="1"/>
          </p:cNvSpPr>
          <p:nvPr>
            <p:ph type="title"/>
          </p:nvPr>
        </p:nvSpPr>
        <p:spPr>
          <a:xfrm>
            <a:off x="467544" y="72008"/>
            <a:ext cx="7091681" cy="47667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PXX DRAGON N2 Line Flow</a:t>
            </a:r>
            <a:r>
              <a:rPr lang="ko-KR" altLang="en-US" sz="2000" dirty="0" err="1"/>
              <a:t>역조립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대책보고서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2552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권준식 서식파일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 sz="11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권준식 서식파일</Template>
  <TotalTime>16142</TotalTime>
  <Words>224</Words>
  <Application>Microsoft Office PowerPoint</Application>
  <PresentationFormat>화면 슬라이드 쇼(4:3)</PresentationFormat>
  <Paragraphs>34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권준식 서식파일</vt:lpstr>
      <vt:lpstr>PXX DRAGON N2 Line Flow역조립 대책보고서</vt:lpstr>
      <vt:lpstr>PXX DRAGON N2 Line Flow역조립 대책보고서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HP</dc:creator>
  <cp:lastModifiedBy>user</cp:lastModifiedBy>
  <cp:revision>646</cp:revision>
  <cp:lastPrinted>2024-06-26T09:17:13Z</cp:lastPrinted>
  <dcterms:created xsi:type="dcterms:W3CDTF">2018-02-19T10:05:14Z</dcterms:created>
  <dcterms:modified xsi:type="dcterms:W3CDTF">2024-11-16T03:38:44Z</dcterms:modified>
</cp:coreProperties>
</file>